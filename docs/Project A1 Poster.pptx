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453F"/>
    <a:srgbClr val="044836"/>
    <a:srgbClr val="034941"/>
    <a:srgbClr val="024A48"/>
    <a:srgbClr val="024A37"/>
    <a:srgbClr val="03634A"/>
    <a:srgbClr val="006666"/>
    <a:srgbClr val="003300"/>
    <a:srgbClr val="33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8" d="100"/>
          <a:sy n="18" d="100"/>
        </p:scale>
        <p:origin x="26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32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310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383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908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9965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6481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999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22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326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6097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243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823AB-6602-42D2-BF55-2A857A74F7FB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978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55000">
              <a:schemeClr val="accent3">
                <a:lumMod val="40000"/>
                <a:lumOff val="60000"/>
              </a:schemeClr>
            </a:gs>
            <a:gs pos="97000">
              <a:schemeClr val="accent6">
                <a:lumMod val="75000"/>
              </a:schemeClr>
            </a:gs>
            <a:gs pos="78000">
              <a:schemeClr val="accent6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F9ED1EF-042C-DCF0-3AD8-B70B023CEC08}"/>
              </a:ext>
            </a:extLst>
          </p:cNvPr>
          <p:cNvSpPr/>
          <p:nvPr/>
        </p:nvSpPr>
        <p:spPr>
          <a:xfrm>
            <a:off x="0" y="-18892"/>
            <a:ext cx="21383625" cy="2812501"/>
          </a:xfrm>
          <a:prstGeom prst="rect">
            <a:avLst/>
          </a:prstGeom>
          <a:solidFill>
            <a:srgbClr val="0745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BC60426-AC97-0881-FEF5-B8057BF35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656" y="107826"/>
            <a:ext cx="16489458" cy="2635261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</a:rPr>
              <a:t>Pre-Trained Hyper-Heuristics for </a:t>
            </a:r>
            <a:r>
              <a:rPr lang="en-US" sz="7200" dirty="0" err="1">
                <a:solidFill>
                  <a:schemeClr val="bg1"/>
                </a:solidFill>
              </a:rPr>
              <a:t>Optimisation</a:t>
            </a:r>
            <a:r>
              <a:rPr lang="en-US" sz="7200" dirty="0">
                <a:solidFill>
                  <a:schemeClr val="bg1"/>
                </a:solidFill>
              </a:rPr>
              <a:t> Tasks</a:t>
            </a:r>
          </a:p>
        </p:txBody>
      </p:sp>
      <p:pic>
        <p:nvPicPr>
          <p:cNvPr id="1026" name="Picture 2" descr="Uni-Exeter-logo-portrait-1 - VOX - Pol">
            <a:extLst>
              <a:ext uri="{FF2B5EF4-FFF2-40B4-BE49-F238E27FC236}">
                <a16:creationId xmlns:a16="http://schemas.microsoft.com/office/drawing/2014/main" id="{9BFE789B-E8D3-CB48-3198-518301A25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255" y="107826"/>
            <a:ext cx="2665712" cy="2561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0C19908-A670-F280-5B45-E1703DE415F4}"/>
              </a:ext>
            </a:extLst>
          </p:cNvPr>
          <p:cNvSpPr txBox="1"/>
          <p:nvPr/>
        </p:nvSpPr>
        <p:spPr>
          <a:xfrm>
            <a:off x="6487886" y="188105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BB69EF9-B2A1-59F7-B709-5662B89D809C}"/>
              </a:ext>
            </a:extLst>
          </p:cNvPr>
          <p:cNvGrpSpPr/>
          <p:nvPr/>
        </p:nvGrpSpPr>
        <p:grpSpPr>
          <a:xfrm>
            <a:off x="422116" y="7253603"/>
            <a:ext cx="20534520" cy="8247533"/>
            <a:chOff x="570591" y="10666193"/>
            <a:chExt cx="19997116" cy="818278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B91B601-77FE-C194-D7C2-468E93837BB8}"/>
                </a:ext>
              </a:extLst>
            </p:cNvPr>
            <p:cNvSpPr txBox="1"/>
            <p:nvPr/>
          </p:nvSpPr>
          <p:spPr>
            <a:xfrm>
              <a:off x="570593" y="10666194"/>
              <a:ext cx="19997114" cy="818278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F1A5F185-2403-2C11-4F6E-69A4A5EC3DF5}"/>
                </a:ext>
              </a:extLst>
            </p:cNvPr>
            <p:cNvSpPr/>
            <p:nvPr/>
          </p:nvSpPr>
          <p:spPr>
            <a:xfrm>
              <a:off x="570591" y="10666193"/>
              <a:ext cx="19997113" cy="1253050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Methodology</a:t>
              </a:r>
              <a:endParaRPr lang="en-GB" sz="4000" dirty="0">
                <a:latin typeface="Source Sans Pro Black" panose="020F0502020204030204" pitchFamily="34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99588F7-062E-CB4C-655D-44300457033D}"/>
              </a:ext>
            </a:extLst>
          </p:cNvPr>
          <p:cNvGrpSpPr/>
          <p:nvPr/>
        </p:nvGrpSpPr>
        <p:grpSpPr>
          <a:xfrm>
            <a:off x="422115" y="20851241"/>
            <a:ext cx="20626880" cy="6899218"/>
            <a:chOff x="693255" y="19051859"/>
            <a:chExt cx="19997114" cy="818278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7ADA20-BAB6-6E7F-17BB-882BF96EEBDD}"/>
                </a:ext>
              </a:extLst>
            </p:cNvPr>
            <p:cNvSpPr txBox="1"/>
            <p:nvPr/>
          </p:nvSpPr>
          <p:spPr>
            <a:xfrm>
              <a:off x="693255" y="19051859"/>
              <a:ext cx="19997114" cy="818278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24" name="Rectangle: Top Corners Rounded 23">
              <a:extLst>
                <a:ext uri="{FF2B5EF4-FFF2-40B4-BE49-F238E27FC236}">
                  <a16:creationId xmlns:a16="http://schemas.microsoft.com/office/drawing/2014/main" id="{A0C196ED-0F01-28DC-4022-F460723A87BB}"/>
                </a:ext>
              </a:extLst>
            </p:cNvPr>
            <p:cNvSpPr/>
            <p:nvPr/>
          </p:nvSpPr>
          <p:spPr>
            <a:xfrm>
              <a:off x="693256" y="19051859"/>
              <a:ext cx="19997113" cy="1247714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Results and Conclusion</a:t>
              </a:r>
              <a:endParaRPr lang="en-GB" sz="4000" dirty="0">
                <a:latin typeface="Source Sans Pro Black" panose="020F050202020403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A2ED68F-F9FC-E4EF-62DA-257CC9AA76EF}"/>
              </a:ext>
            </a:extLst>
          </p:cNvPr>
          <p:cNvGrpSpPr/>
          <p:nvPr/>
        </p:nvGrpSpPr>
        <p:grpSpPr>
          <a:xfrm>
            <a:off x="10506232" y="3040569"/>
            <a:ext cx="10450401" cy="4086944"/>
            <a:chOff x="10503877" y="4006486"/>
            <a:chExt cx="10186493" cy="65106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5284BD6-DD07-071F-83B7-F71BFC2DC062}"/>
                </a:ext>
              </a:extLst>
            </p:cNvPr>
            <p:cNvGrpSpPr/>
            <p:nvPr/>
          </p:nvGrpSpPr>
          <p:grpSpPr>
            <a:xfrm>
              <a:off x="10503877" y="4006486"/>
              <a:ext cx="10186493" cy="6510696"/>
              <a:chOff x="10503877" y="4006486"/>
              <a:chExt cx="10186493" cy="6510696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1B1920-6667-A0E3-FB42-A9F282C7865A}"/>
                  </a:ext>
                </a:extLst>
              </p:cNvPr>
              <p:cNvSpPr txBox="1"/>
              <p:nvPr/>
            </p:nvSpPr>
            <p:spPr>
              <a:xfrm>
                <a:off x="10503878" y="4006486"/>
                <a:ext cx="10186492" cy="651069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txBody>
              <a:bodyPr wrap="square" rtlCol="0">
                <a:noAutofit/>
              </a:bodyPr>
              <a:lstStyle/>
              <a:p>
                <a:endParaRPr lang="en-GB" dirty="0"/>
              </a:p>
            </p:txBody>
          </p:sp>
          <p:sp>
            <p:nvSpPr>
              <p:cNvPr id="2" name="Rectangle: Top Corners Rounded 1">
                <a:extLst>
                  <a:ext uri="{FF2B5EF4-FFF2-40B4-BE49-F238E27FC236}">
                    <a16:creationId xmlns:a16="http://schemas.microsoft.com/office/drawing/2014/main" id="{30F83BC8-84E3-1453-C408-D0D8C1FB4BE1}"/>
                  </a:ext>
                </a:extLst>
              </p:cNvPr>
              <p:cNvSpPr/>
              <p:nvPr/>
            </p:nvSpPr>
            <p:spPr>
              <a:xfrm>
                <a:off x="10503877" y="4006486"/>
                <a:ext cx="10186492" cy="1022714"/>
              </a:xfrm>
              <a:prstGeom prst="round2SameRect">
                <a:avLst/>
              </a:prstGeom>
              <a:solidFill>
                <a:srgbClr val="07453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4000" dirty="0">
                    <a:latin typeface="Source Sans Pro Black" panose="020F0502020204030204" pitchFamily="34" charset="0"/>
                    <a:ea typeface="Source Sans Pro Black" panose="020F0502020204030204" pitchFamily="34" charset="0"/>
                  </a:rPr>
                  <a:t>Aims </a:t>
                </a:r>
                <a:r>
                  <a:rPr lang="en-GB" sz="4000">
                    <a:latin typeface="Source Sans Pro Black" panose="020F0502020204030204" pitchFamily="34" charset="0"/>
                    <a:ea typeface="Source Sans Pro Black" panose="020F0502020204030204" pitchFamily="34" charset="0"/>
                  </a:rPr>
                  <a:t>and Objectives</a:t>
                </a:r>
                <a:endParaRPr lang="en-GB" sz="3200" dirty="0">
                  <a:latin typeface="Source Sans Pro Black" panose="020F0502020204030204" pitchFamily="34" charset="0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E12A528-2AA1-F28F-AFE0-B615E1F67B6F}"/>
                </a:ext>
              </a:extLst>
            </p:cNvPr>
            <p:cNvSpPr txBox="1"/>
            <p:nvPr/>
          </p:nvSpPr>
          <p:spPr>
            <a:xfrm>
              <a:off x="10691812" y="5196840"/>
              <a:ext cx="9748546" cy="498947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GB" sz="2400" dirty="0"/>
                <a:t>Create and implement a </a:t>
              </a:r>
              <a:r>
                <a:rPr lang="en-GB" sz="2400" dirty="0" err="1"/>
                <a:t>hyperheuristic</a:t>
              </a:r>
              <a:r>
                <a:rPr lang="en-GB" sz="2400" dirty="0"/>
                <a:t> that operates on the problem domains in Hyflex</a:t>
              </a:r>
            </a:p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GB" sz="2400" dirty="0"/>
                <a:t>Attach a Python-Java Gateway that runs Hyflex </a:t>
              </a:r>
              <a:r>
                <a:rPr lang="en-GB" sz="2400" dirty="0" err="1"/>
                <a:t>hyperheuristics</a:t>
              </a:r>
              <a:r>
                <a:rPr lang="en-GB" sz="2400" dirty="0"/>
                <a:t> on the problem domains to visually compare results</a:t>
              </a:r>
            </a:p>
            <a:p>
              <a:pPr marL="457200" indent="-457200">
                <a:buFont typeface="Wingdings" panose="05000000000000000000" pitchFamily="2" charset="2"/>
                <a:buChar char="Ø"/>
              </a:pPr>
              <a:r>
                <a:rPr lang="en-GB" sz="2400" dirty="0"/>
                <a:t>Attempt to see if pre-training a </a:t>
              </a:r>
              <a:r>
                <a:rPr lang="en-GB" sz="2400" dirty="0" err="1"/>
                <a:t>hyperheuristic</a:t>
              </a:r>
              <a:r>
                <a:rPr lang="en-GB" sz="2400" dirty="0"/>
                <a:t> is achievable</a:t>
              </a:r>
            </a:p>
            <a:p>
              <a:pPr marL="457200" indent="-457200">
                <a:buFont typeface="Wingdings" panose="05000000000000000000" pitchFamily="2" charset="2"/>
                <a:buChar char="§"/>
              </a:pPr>
              <a:endParaRPr lang="en-GB" sz="28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8911E45-2258-2910-9FF3-6B0789D15C7D}"/>
              </a:ext>
            </a:extLst>
          </p:cNvPr>
          <p:cNvGrpSpPr/>
          <p:nvPr/>
        </p:nvGrpSpPr>
        <p:grpSpPr>
          <a:xfrm>
            <a:off x="422115" y="3040569"/>
            <a:ext cx="9827523" cy="4086945"/>
            <a:chOff x="570592" y="4006485"/>
            <a:chExt cx="9807848" cy="543363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DB9F096-8FB2-0F13-21D3-A0A3D8856AA0}"/>
                </a:ext>
              </a:extLst>
            </p:cNvPr>
            <p:cNvGrpSpPr/>
            <p:nvPr/>
          </p:nvGrpSpPr>
          <p:grpSpPr>
            <a:xfrm>
              <a:off x="570592" y="4006485"/>
              <a:ext cx="9807848" cy="5433637"/>
              <a:chOff x="570592" y="4006485"/>
              <a:chExt cx="9807848" cy="5433637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D174AE8-AF0B-34A4-7717-7077F0ACB2D9}"/>
                  </a:ext>
                </a:extLst>
              </p:cNvPr>
              <p:cNvSpPr txBox="1"/>
              <p:nvPr/>
            </p:nvSpPr>
            <p:spPr>
              <a:xfrm>
                <a:off x="570592" y="4006486"/>
                <a:ext cx="9807847" cy="543363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txBody>
              <a:bodyPr wrap="square" rtlCol="0">
                <a:noAutofit/>
              </a:bodyPr>
              <a:lstStyle/>
              <a:p>
                <a:endParaRPr lang="en-GB" dirty="0"/>
              </a:p>
            </p:txBody>
          </p:sp>
          <p:sp>
            <p:nvSpPr>
              <p:cNvPr id="21" name="Rectangle: Top Corners Rounded 20">
                <a:extLst>
                  <a:ext uri="{FF2B5EF4-FFF2-40B4-BE49-F238E27FC236}">
                    <a16:creationId xmlns:a16="http://schemas.microsoft.com/office/drawing/2014/main" id="{CEA43005-15C9-DD71-26B3-326FF054B01A}"/>
                  </a:ext>
                </a:extLst>
              </p:cNvPr>
              <p:cNvSpPr/>
              <p:nvPr/>
            </p:nvSpPr>
            <p:spPr>
              <a:xfrm>
                <a:off x="570594" y="4006485"/>
                <a:ext cx="9807846" cy="1022714"/>
              </a:xfrm>
              <a:prstGeom prst="round2SameRect">
                <a:avLst/>
              </a:prstGeom>
              <a:solidFill>
                <a:srgbClr val="07453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4000" dirty="0">
                    <a:latin typeface="Source Sans Pro Black" panose="020F0502020204030204" pitchFamily="34" charset="0"/>
                    <a:ea typeface="Source Sans Pro Black" panose="020F0502020204030204" pitchFamily="34" charset="0"/>
                  </a:rPr>
                  <a:t>Motivation</a:t>
                </a:r>
                <a:endParaRPr lang="en-GB" sz="3200" dirty="0">
                  <a:latin typeface="Source Sans Pro Black" panose="020F050202020403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9D3E116-DEFF-2225-53ED-4B47AB7C8B61}"/>
                </a:ext>
              </a:extLst>
            </p:cNvPr>
            <p:cNvSpPr txBox="1"/>
            <p:nvPr/>
          </p:nvSpPr>
          <p:spPr>
            <a:xfrm>
              <a:off x="822960" y="5196839"/>
              <a:ext cx="9281160" cy="4243282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457200" indent="-457200">
                <a:buFont typeface="Wingdings" panose="05000000000000000000" pitchFamily="2" charset="2"/>
                <a:buChar char="§"/>
              </a:pPr>
              <a:r>
                <a:rPr lang="en-GB" sz="2400" b="1" dirty="0"/>
                <a:t>Transfer Learning Between Problem Instances: </a:t>
              </a:r>
              <a:r>
                <a:rPr lang="en-GB" sz="2400" dirty="0"/>
                <a:t>Allows hyper-heuristic exploit previously learning heuristic performance patterns</a:t>
              </a:r>
              <a:endParaRPr lang="en-GB" sz="2400" b="1" dirty="0"/>
            </a:p>
            <a:p>
              <a:pPr marL="457200" indent="-457200">
                <a:buFont typeface="Wingdings" panose="05000000000000000000" pitchFamily="2" charset="2"/>
                <a:buChar char="§"/>
              </a:pPr>
              <a:r>
                <a:rPr lang="en-GB" sz="2400" b="1" dirty="0"/>
                <a:t>Improving Early-Stage Solution Quality: </a:t>
              </a:r>
              <a:r>
                <a:rPr lang="en-GB" sz="2400" dirty="0"/>
                <a:t>Helps hyper-heuristics prioritise heuristics that work well with similar </a:t>
              </a:r>
            </a:p>
            <a:p>
              <a:pPr marL="457200" indent="-457200">
                <a:buFont typeface="Wingdings" panose="05000000000000000000" pitchFamily="2" charset="2"/>
                <a:buChar char="§"/>
              </a:pPr>
              <a:r>
                <a:rPr lang="en-GB" sz="2400" b="1" dirty="0"/>
                <a:t>Stabilise Heuristic Selection Behaviour: </a:t>
              </a:r>
              <a:r>
                <a:rPr lang="en-GB" sz="2400" dirty="0"/>
                <a:t>Heuristic Selection is highly stochastic. Learns consistent patterns across multiple training runs</a:t>
              </a:r>
              <a:endParaRPr lang="en-GB" sz="2400" b="1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8492880-B1A1-A91A-73A5-77FAE74825AE}"/>
              </a:ext>
            </a:extLst>
          </p:cNvPr>
          <p:cNvGrpSpPr/>
          <p:nvPr/>
        </p:nvGrpSpPr>
        <p:grpSpPr>
          <a:xfrm>
            <a:off x="422114" y="28018154"/>
            <a:ext cx="20534518" cy="1866999"/>
            <a:chOff x="693255" y="27437524"/>
            <a:chExt cx="19997113" cy="244762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E03E00E-8E28-7868-2FEA-6F77FB579AF7}"/>
                </a:ext>
              </a:extLst>
            </p:cNvPr>
            <p:cNvSpPr txBox="1"/>
            <p:nvPr/>
          </p:nvSpPr>
          <p:spPr>
            <a:xfrm>
              <a:off x="693255" y="27437525"/>
              <a:ext cx="19997113" cy="244762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7" name="Rectangle: Top Corners Rounded 6">
              <a:extLst>
                <a:ext uri="{FF2B5EF4-FFF2-40B4-BE49-F238E27FC236}">
                  <a16:creationId xmlns:a16="http://schemas.microsoft.com/office/drawing/2014/main" id="{4616C8A7-7E1F-F1BD-585B-616CD003EC8E}"/>
                </a:ext>
              </a:extLst>
            </p:cNvPr>
            <p:cNvSpPr/>
            <p:nvPr/>
          </p:nvSpPr>
          <p:spPr>
            <a:xfrm>
              <a:off x="693255" y="27437524"/>
              <a:ext cx="19997113" cy="799183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References</a:t>
              </a:r>
              <a:endParaRPr lang="en-GB" sz="4000" dirty="0">
                <a:latin typeface="Source Sans Pro Black" panose="020F0502020204030204" pitchFamily="34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BE5F356-D971-5F9D-6770-42051A4A760A}"/>
              </a:ext>
            </a:extLst>
          </p:cNvPr>
          <p:cNvGrpSpPr/>
          <p:nvPr/>
        </p:nvGrpSpPr>
        <p:grpSpPr>
          <a:xfrm>
            <a:off x="422116" y="15698365"/>
            <a:ext cx="20626882" cy="4904012"/>
            <a:chOff x="693255" y="19051859"/>
            <a:chExt cx="19997114" cy="818278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B7C1514-7254-36FB-A962-8706DBB74D74}"/>
                </a:ext>
              </a:extLst>
            </p:cNvPr>
            <p:cNvSpPr txBox="1"/>
            <p:nvPr/>
          </p:nvSpPr>
          <p:spPr>
            <a:xfrm>
              <a:off x="693255" y="19051859"/>
              <a:ext cx="19997114" cy="818278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26" name="Rectangle: Top Corners Rounded 25">
              <a:extLst>
                <a:ext uri="{FF2B5EF4-FFF2-40B4-BE49-F238E27FC236}">
                  <a16:creationId xmlns:a16="http://schemas.microsoft.com/office/drawing/2014/main" id="{3273D125-2609-3E9C-6D92-64B2BE24480C}"/>
                </a:ext>
              </a:extLst>
            </p:cNvPr>
            <p:cNvSpPr/>
            <p:nvPr/>
          </p:nvSpPr>
          <p:spPr>
            <a:xfrm>
              <a:off x="693256" y="19051859"/>
              <a:ext cx="19997113" cy="1247714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Implementation</a:t>
              </a:r>
              <a:endParaRPr lang="en-GB" sz="4000" dirty="0">
                <a:latin typeface="Source Sans Pro Black" panose="020F0502020204030204" pitchFamily="34" charset="0"/>
              </a:endParaRPr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CC8DF843-82BE-9790-128F-A42844D60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7788" y="8566735"/>
            <a:ext cx="6658708" cy="593177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ACA5CC-D355-A416-CE31-2E373E354A77}"/>
              </a:ext>
            </a:extLst>
          </p:cNvPr>
          <p:cNvSpPr txBox="1"/>
          <p:nvPr/>
        </p:nvSpPr>
        <p:spPr>
          <a:xfrm>
            <a:off x="14841415" y="22230148"/>
            <a:ext cx="5858729" cy="515954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/>
              <a:t>Results discussion in here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E6A6E11-B29E-3453-8500-78CFC7923A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989" y="16684560"/>
            <a:ext cx="13041005" cy="3617112"/>
          </a:xfrm>
          <a:prstGeom prst="rect">
            <a:avLst/>
          </a:prstGeom>
        </p:spPr>
      </p:pic>
      <p:pic>
        <p:nvPicPr>
          <p:cNvPr id="41" name="Picture 2" descr="A new hyper-heuristic as a general problem solver: an implementation in  HyFlex | Journal of Scheduling">
            <a:extLst>
              <a:ext uri="{FF2B5EF4-FFF2-40B4-BE49-F238E27FC236}">
                <a16:creationId xmlns:a16="http://schemas.microsoft.com/office/drawing/2014/main" id="{80DF5212-FD1B-B2A5-8DCA-1992D36D0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1070" y="8566734"/>
            <a:ext cx="8877860" cy="4175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CC7F02-D693-154D-6124-7F25187C63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129" y="8613359"/>
            <a:ext cx="4505732" cy="377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276E5ED-4682-145B-7F5B-20EDB0EB0424}"/>
              </a:ext>
            </a:extLst>
          </p:cNvPr>
          <p:cNvSpPr txBox="1"/>
          <p:nvPr/>
        </p:nvSpPr>
        <p:spPr>
          <a:xfrm>
            <a:off x="7522524" y="12707608"/>
            <a:ext cx="4183545" cy="3710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[2] Selection Hyper-Heuristic Framework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C402B7-5265-6CB2-6FCB-4D0C7141C8AE}"/>
              </a:ext>
            </a:extLst>
          </p:cNvPr>
          <p:cNvSpPr txBox="1"/>
          <p:nvPr/>
        </p:nvSpPr>
        <p:spPr>
          <a:xfrm>
            <a:off x="907260" y="12367905"/>
            <a:ext cx="4183545" cy="3710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[1] Generic Hyper-Heuristic Structure</a:t>
            </a:r>
          </a:p>
        </p:txBody>
      </p:sp>
    </p:spTree>
    <p:extLst>
      <p:ext uri="{BB962C8B-B14F-4D97-AF65-F5344CB8AC3E}">
        <p14:creationId xmlns:p14="http://schemas.microsoft.com/office/powerpoint/2010/main" val="7875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1600</TotalTime>
  <Words>115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Source Sans Pro Black</vt:lpstr>
      <vt:lpstr>Wingdings</vt:lpstr>
      <vt:lpstr>Office Theme</vt:lpstr>
      <vt:lpstr>Pre-Trained Hyper-Heuristics for Optimisation 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Sans Hay</dc:creator>
  <cp:lastModifiedBy>Sans Hay</cp:lastModifiedBy>
  <cp:revision>12</cp:revision>
  <dcterms:created xsi:type="dcterms:W3CDTF">2026-03-09T20:20:42Z</dcterms:created>
  <dcterms:modified xsi:type="dcterms:W3CDTF">2026-03-16T18:27:11Z</dcterms:modified>
</cp:coreProperties>
</file>