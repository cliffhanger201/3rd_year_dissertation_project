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53F"/>
    <a:srgbClr val="044836"/>
    <a:srgbClr val="034941"/>
    <a:srgbClr val="024A48"/>
    <a:srgbClr val="024A37"/>
    <a:srgbClr val="03634A"/>
    <a:srgbClr val="006666"/>
    <a:srgbClr val="003300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941" y="-1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32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31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8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90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96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48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99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72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26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0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24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823AB-6602-42D2-BF55-2A857A74F7FB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5D395-5DB2-486E-BFDC-C050E135A7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97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seage/hyflex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3">
                <a:lumMod val="40000"/>
                <a:lumOff val="60000"/>
              </a:schemeClr>
            </a:gs>
            <a:gs pos="97000">
              <a:schemeClr val="accent6">
                <a:lumMod val="75000"/>
              </a:schemeClr>
            </a:gs>
            <a:gs pos="78000">
              <a:schemeClr val="accent6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9ED1EF-042C-DCF0-3AD8-B70B023CEC08}"/>
              </a:ext>
            </a:extLst>
          </p:cNvPr>
          <p:cNvSpPr/>
          <p:nvPr/>
        </p:nvSpPr>
        <p:spPr>
          <a:xfrm>
            <a:off x="0" y="-18891"/>
            <a:ext cx="21383625" cy="2533204"/>
          </a:xfrm>
          <a:prstGeom prst="rect">
            <a:avLst/>
          </a:prstGeom>
          <a:solidFill>
            <a:srgbClr val="074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C60426-AC97-0881-FEF5-B8057BF3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035" y="200582"/>
            <a:ext cx="16489458" cy="2198749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Pre-Trained Hyper-Heuristics for </a:t>
            </a:r>
            <a:r>
              <a:rPr lang="en-US" sz="7200" dirty="0" err="1">
                <a:solidFill>
                  <a:schemeClr val="bg1"/>
                </a:solidFill>
              </a:rPr>
              <a:t>Optimisation</a:t>
            </a:r>
            <a:r>
              <a:rPr lang="en-US" sz="7200" dirty="0">
                <a:solidFill>
                  <a:schemeClr val="bg1"/>
                </a:solidFill>
              </a:rPr>
              <a:t> Tasks</a:t>
            </a:r>
          </a:p>
        </p:txBody>
      </p:sp>
      <p:pic>
        <p:nvPicPr>
          <p:cNvPr id="1026" name="Picture 2" descr="Uni-Exeter-logo-portrait-1 - VOX - Pol">
            <a:extLst>
              <a:ext uri="{FF2B5EF4-FFF2-40B4-BE49-F238E27FC236}">
                <a16:creationId xmlns:a16="http://schemas.microsoft.com/office/drawing/2014/main" id="{9BFE789B-E8D3-CB48-3198-518301A25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89" y="151541"/>
            <a:ext cx="2373380" cy="228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C19908-A670-F280-5B45-E1703DE415F4}"/>
              </a:ext>
            </a:extLst>
          </p:cNvPr>
          <p:cNvSpPr txBox="1"/>
          <p:nvPr/>
        </p:nvSpPr>
        <p:spPr>
          <a:xfrm>
            <a:off x="6487886" y="188105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B69EF9-B2A1-59F7-B709-5662B89D809C}"/>
              </a:ext>
            </a:extLst>
          </p:cNvPr>
          <p:cNvGrpSpPr/>
          <p:nvPr/>
        </p:nvGrpSpPr>
        <p:grpSpPr>
          <a:xfrm>
            <a:off x="420306" y="6715095"/>
            <a:ext cx="20534520" cy="8504145"/>
            <a:chOff x="570591" y="10666193"/>
            <a:chExt cx="19997116" cy="832834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91B601-77FE-C194-D7C2-468E93837BB8}"/>
                </a:ext>
              </a:extLst>
            </p:cNvPr>
            <p:cNvSpPr txBox="1"/>
            <p:nvPr/>
          </p:nvSpPr>
          <p:spPr>
            <a:xfrm>
              <a:off x="570593" y="10666193"/>
              <a:ext cx="19997114" cy="83283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endParaRPr lang="en-GB" dirty="0"/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F1A5F185-2403-2C11-4F6E-69A4A5EC3DF5}"/>
                </a:ext>
              </a:extLst>
            </p:cNvPr>
            <p:cNvSpPr/>
            <p:nvPr/>
          </p:nvSpPr>
          <p:spPr>
            <a:xfrm>
              <a:off x="570591" y="10666193"/>
              <a:ext cx="19997113" cy="1271259"/>
            </a:xfrm>
            <a:prstGeom prst="round2SameRect">
              <a:avLst/>
            </a:prstGeom>
            <a:solidFill>
              <a:srgbClr val="07453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latin typeface="Source Sans Pro Black" panose="020F0502020204030204" pitchFamily="34" charset="0"/>
                  <a:ea typeface="Source Sans Pro Black" panose="020F0502020204030204" pitchFamily="34" charset="0"/>
                </a:rPr>
                <a:t>Methodology</a:t>
              </a:r>
              <a:endParaRPr lang="en-GB" sz="4000" dirty="0">
                <a:latin typeface="Source Sans Pro Black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9588F7-062E-CB4C-655D-44300457033D}"/>
              </a:ext>
            </a:extLst>
          </p:cNvPr>
          <p:cNvGrpSpPr/>
          <p:nvPr/>
        </p:nvGrpSpPr>
        <p:grpSpPr>
          <a:xfrm>
            <a:off x="422115" y="20810828"/>
            <a:ext cx="20626880" cy="7069159"/>
            <a:chOff x="693255" y="19051859"/>
            <a:chExt cx="19997114" cy="818278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7ADA20-BAB6-6E7F-17BB-882BF96EEBDD}"/>
                </a:ext>
              </a:extLst>
            </p:cNvPr>
            <p:cNvSpPr txBox="1"/>
            <p:nvPr/>
          </p:nvSpPr>
          <p:spPr>
            <a:xfrm>
              <a:off x="693255" y="19051859"/>
              <a:ext cx="19997114" cy="81827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endParaRPr lang="en-GB" dirty="0"/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A0C196ED-0F01-28DC-4022-F460723A87BB}"/>
                </a:ext>
              </a:extLst>
            </p:cNvPr>
            <p:cNvSpPr/>
            <p:nvPr/>
          </p:nvSpPr>
          <p:spPr>
            <a:xfrm>
              <a:off x="693256" y="19051859"/>
              <a:ext cx="19997113" cy="1247714"/>
            </a:xfrm>
            <a:prstGeom prst="round2SameRect">
              <a:avLst/>
            </a:prstGeom>
            <a:solidFill>
              <a:srgbClr val="07453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latin typeface="Source Sans Pro Black" panose="020F0502020204030204" pitchFamily="34" charset="0"/>
                  <a:ea typeface="Source Sans Pro Black" panose="020F0502020204030204" pitchFamily="34" charset="0"/>
                </a:rPr>
                <a:t>Results and Conclusion</a:t>
              </a:r>
              <a:endParaRPr lang="en-GB" sz="4000" dirty="0">
                <a:latin typeface="Source Sans Pro Black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A2ED68F-F9FC-E4EF-62DA-257CC9AA76EF}"/>
              </a:ext>
            </a:extLst>
          </p:cNvPr>
          <p:cNvGrpSpPr/>
          <p:nvPr/>
        </p:nvGrpSpPr>
        <p:grpSpPr>
          <a:xfrm>
            <a:off x="10511003" y="2615926"/>
            <a:ext cx="10450401" cy="4093699"/>
            <a:chOff x="10503877" y="4006486"/>
            <a:chExt cx="10186493" cy="66067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284BD6-DD07-071F-83B7-F71BFC2DC062}"/>
                </a:ext>
              </a:extLst>
            </p:cNvPr>
            <p:cNvGrpSpPr/>
            <p:nvPr/>
          </p:nvGrpSpPr>
          <p:grpSpPr>
            <a:xfrm>
              <a:off x="10503877" y="4006486"/>
              <a:ext cx="10186493" cy="6510696"/>
              <a:chOff x="10503877" y="4006486"/>
              <a:chExt cx="10186493" cy="65106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1B1920-6667-A0E3-FB42-A9F282C7865A}"/>
                  </a:ext>
                </a:extLst>
              </p:cNvPr>
              <p:cNvSpPr txBox="1"/>
              <p:nvPr/>
            </p:nvSpPr>
            <p:spPr>
              <a:xfrm>
                <a:off x="10503878" y="4006486"/>
                <a:ext cx="10186492" cy="651069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" name="Rectangle: Top Corners Rounded 1">
                <a:extLst>
                  <a:ext uri="{FF2B5EF4-FFF2-40B4-BE49-F238E27FC236}">
                    <a16:creationId xmlns:a16="http://schemas.microsoft.com/office/drawing/2014/main" id="{30F83BC8-84E3-1453-C408-D0D8C1FB4BE1}"/>
                  </a:ext>
                </a:extLst>
              </p:cNvPr>
              <p:cNvSpPr/>
              <p:nvPr/>
            </p:nvSpPr>
            <p:spPr>
              <a:xfrm>
                <a:off x="10503877" y="4006486"/>
                <a:ext cx="10186492" cy="1022713"/>
              </a:xfrm>
              <a:prstGeom prst="round2SameRect">
                <a:avLst/>
              </a:prstGeom>
              <a:solidFill>
                <a:srgbClr val="07453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>
                    <a:latin typeface="Source Sans Pro Black" panose="020F0502020204030204" pitchFamily="34" charset="0"/>
                    <a:ea typeface="Source Sans Pro Black" panose="020F0502020204030204" pitchFamily="34" charset="0"/>
                  </a:rPr>
                  <a:t>Aims and Objectives</a:t>
                </a:r>
                <a:endParaRPr lang="en-GB" sz="3200" dirty="0">
                  <a:latin typeface="Source Sans Pro Black" panose="020F0502020204030204" pitchFamily="34" charset="0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12A528-2AA1-F28F-AFE0-B615E1F67B6F}"/>
                </a:ext>
              </a:extLst>
            </p:cNvPr>
            <p:cNvSpPr txBox="1"/>
            <p:nvPr/>
          </p:nvSpPr>
          <p:spPr>
            <a:xfrm>
              <a:off x="10691812" y="5196838"/>
              <a:ext cx="9748546" cy="54164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GB" sz="2200" dirty="0"/>
                <a:t>Create and implement a </a:t>
              </a:r>
              <a:r>
                <a:rPr lang="en-GB" sz="2200" dirty="0" err="1"/>
                <a:t>hyperheuristic</a:t>
              </a:r>
              <a:r>
                <a:rPr lang="en-GB" sz="2200" dirty="0"/>
                <a:t> that operates on the problem domains in Hyflex [1], using low-level heuristic selection and acceptance methods.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GB" sz="2200" dirty="0"/>
                <a:t>Attach a Python-Java Gateway that runs Hyflex </a:t>
              </a:r>
              <a:r>
                <a:rPr lang="en-GB" sz="2200" dirty="0" err="1"/>
                <a:t>hyperheuristics</a:t>
              </a:r>
              <a:r>
                <a:rPr lang="en-GB" sz="2200" dirty="0"/>
                <a:t> on the problem domains to visually compare results across multiple runs and instances.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GB" sz="2200" dirty="0"/>
                <a:t>Attempt to see if pre-training a </a:t>
              </a:r>
              <a:r>
                <a:rPr lang="en-GB" sz="2200" dirty="0" err="1"/>
                <a:t>hyperheuristic</a:t>
              </a:r>
              <a:r>
                <a:rPr lang="en-GB" sz="2200" dirty="0"/>
                <a:t> is achievable by leveraging prior experience from known problem domains to improve performance on unseen instances.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911E45-2258-2910-9FF3-6B0789D15C7D}"/>
              </a:ext>
            </a:extLst>
          </p:cNvPr>
          <p:cNvGrpSpPr/>
          <p:nvPr/>
        </p:nvGrpSpPr>
        <p:grpSpPr>
          <a:xfrm>
            <a:off x="422219" y="2621395"/>
            <a:ext cx="9827523" cy="4034157"/>
            <a:chOff x="570592" y="4006486"/>
            <a:chExt cx="9807848" cy="543363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DB9F096-8FB2-0F13-21D3-A0A3D8856AA0}"/>
                </a:ext>
              </a:extLst>
            </p:cNvPr>
            <p:cNvGrpSpPr/>
            <p:nvPr/>
          </p:nvGrpSpPr>
          <p:grpSpPr>
            <a:xfrm>
              <a:off x="570592" y="4006486"/>
              <a:ext cx="9807848" cy="5433636"/>
              <a:chOff x="570592" y="4006486"/>
              <a:chExt cx="9807848" cy="543363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174AE8-AF0B-34A4-7717-7077F0ACB2D9}"/>
                  </a:ext>
                </a:extLst>
              </p:cNvPr>
              <p:cNvSpPr txBox="1"/>
              <p:nvPr/>
            </p:nvSpPr>
            <p:spPr>
              <a:xfrm>
                <a:off x="570592" y="4006486"/>
                <a:ext cx="9807847" cy="543363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1" name="Rectangle: Top Corners Rounded 20">
                <a:extLst>
                  <a:ext uri="{FF2B5EF4-FFF2-40B4-BE49-F238E27FC236}">
                    <a16:creationId xmlns:a16="http://schemas.microsoft.com/office/drawing/2014/main" id="{CEA43005-15C9-DD71-26B3-326FF054B01A}"/>
                  </a:ext>
                </a:extLst>
              </p:cNvPr>
              <p:cNvSpPr/>
              <p:nvPr/>
            </p:nvSpPr>
            <p:spPr>
              <a:xfrm>
                <a:off x="570594" y="4006486"/>
                <a:ext cx="9807846" cy="892782"/>
              </a:xfrm>
              <a:prstGeom prst="round2SameRect">
                <a:avLst/>
              </a:prstGeom>
              <a:solidFill>
                <a:srgbClr val="07453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>
                    <a:latin typeface="Source Sans Pro Black" panose="020F0502020204030204" pitchFamily="34" charset="0"/>
                    <a:ea typeface="Source Sans Pro Black" panose="020F0502020204030204" pitchFamily="34" charset="0"/>
                  </a:rPr>
                  <a:t>Motivation</a:t>
                </a:r>
                <a:endParaRPr lang="en-GB" sz="3200" dirty="0">
                  <a:latin typeface="Source Sans Pro Black" panose="020F050202020403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D3E116-DEFF-2225-53ED-4B47AB7C8B61}"/>
                </a:ext>
              </a:extLst>
            </p:cNvPr>
            <p:cNvSpPr txBox="1"/>
            <p:nvPr/>
          </p:nvSpPr>
          <p:spPr>
            <a:xfrm>
              <a:off x="822960" y="5070894"/>
              <a:ext cx="9281160" cy="42432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GB" sz="2400" b="1" dirty="0"/>
                <a:t>Transfer Learning Between Problem Instances: </a:t>
              </a:r>
              <a:r>
                <a:rPr lang="en-GB" sz="2400" dirty="0"/>
                <a:t>Allows hyper-heuristic exploit previously learning heuristic performance patterns</a:t>
              </a:r>
              <a:endParaRPr lang="en-GB" sz="2400" b="1" dirty="0"/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GB" sz="2400" b="1" dirty="0"/>
                <a:t>Improving Early-Stage Solution Quality: </a:t>
              </a:r>
              <a:r>
                <a:rPr lang="en-GB" sz="2400" dirty="0"/>
                <a:t>Helps hyper-heuristics prioritise heuristics that work well with similar 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GB" sz="2400" b="1" dirty="0"/>
                <a:t>Stabilise Heuristic Selection Behaviour: </a:t>
              </a:r>
              <a:r>
                <a:rPr lang="en-GB" sz="2400" dirty="0"/>
                <a:t>Heuristic Selection is highly stochastic. Learns consistent patterns across multiple training runs</a:t>
              </a:r>
              <a:endParaRPr lang="en-GB" sz="2400" b="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492880-B1A1-A91A-73A5-77FAE74825AE}"/>
              </a:ext>
            </a:extLst>
          </p:cNvPr>
          <p:cNvGrpSpPr/>
          <p:nvPr/>
        </p:nvGrpSpPr>
        <p:grpSpPr>
          <a:xfrm>
            <a:off x="422114" y="28018154"/>
            <a:ext cx="20534518" cy="1866999"/>
            <a:chOff x="693255" y="27437524"/>
            <a:chExt cx="19997113" cy="244762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03E00E-8E28-7868-2FEA-6F77FB579AF7}"/>
                </a:ext>
              </a:extLst>
            </p:cNvPr>
            <p:cNvSpPr txBox="1"/>
            <p:nvPr/>
          </p:nvSpPr>
          <p:spPr>
            <a:xfrm>
              <a:off x="693255" y="27437525"/>
              <a:ext cx="19997113" cy="2447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endParaRPr lang="en-GB" dirty="0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4616C8A7-7E1F-F1BD-585B-616CD003EC8E}"/>
                </a:ext>
              </a:extLst>
            </p:cNvPr>
            <p:cNvSpPr/>
            <p:nvPr/>
          </p:nvSpPr>
          <p:spPr>
            <a:xfrm>
              <a:off x="693255" y="27437524"/>
              <a:ext cx="19997113" cy="799183"/>
            </a:xfrm>
            <a:prstGeom prst="round2SameRect">
              <a:avLst/>
            </a:prstGeom>
            <a:solidFill>
              <a:srgbClr val="07453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latin typeface="Source Sans Pro Black" panose="020F0502020204030204" pitchFamily="34" charset="0"/>
                  <a:ea typeface="Source Sans Pro Black" panose="020F0502020204030204" pitchFamily="34" charset="0"/>
                </a:rPr>
                <a:t>References</a:t>
              </a:r>
              <a:endParaRPr lang="en-GB" sz="4000" dirty="0">
                <a:latin typeface="Source Sans Pro Black" panose="020F050202020403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E5F356-D971-5F9D-6770-42051A4A760A}"/>
              </a:ext>
            </a:extLst>
          </p:cNvPr>
          <p:cNvGrpSpPr/>
          <p:nvPr/>
        </p:nvGrpSpPr>
        <p:grpSpPr>
          <a:xfrm>
            <a:off x="422116" y="15278784"/>
            <a:ext cx="20626882" cy="5419408"/>
            <a:chOff x="693255" y="19051859"/>
            <a:chExt cx="19997114" cy="818278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7C1514-7254-36FB-A962-8706DBB74D74}"/>
                </a:ext>
              </a:extLst>
            </p:cNvPr>
            <p:cNvSpPr txBox="1"/>
            <p:nvPr/>
          </p:nvSpPr>
          <p:spPr>
            <a:xfrm>
              <a:off x="693255" y="19051859"/>
              <a:ext cx="19997114" cy="81827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endParaRPr lang="en-GB" dirty="0"/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3273D125-2609-3E9C-6D92-64B2BE24480C}"/>
                </a:ext>
              </a:extLst>
            </p:cNvPr>
            <p:cNvSpPr/>
            <p:nvPr/>
          </p:nvSpPr>
          <p:spPr>
            <a:xfrm>
              <a:off x="693256" y="19051859"/>
              <a:ext cx="19997113" cy="1247714"/>
            </a:xfrm>
            <a:prstGeom prst="round2SameRect">
              <a:avLst/>
            </a:prstGeom>
            <a:solidFill>
              <a:srgbClr val="07453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latin typeface="Source Sans Pro Black" panose="020F0502020204030204" pitchFamily="34" charset="0"/>
                  <a:ea typeface="Source Sans Pro Black" panose="020F0502020204030204" pitchFamily="34" charset="0"/>
                </a:rPr>
                <a:t>Implementation</a:t>
              </a:r>
              <a:endParaRPr lang="en-GB" sz="4000" dirty="0">
                <a:latin typeface="Source Sans Pro Black" panose="020F0502020204030204" pitchFamily="34" charset="0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CC8DF843-82BE-9790-128F-A42844D6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154" y="8042926"/>
            <a:ext cx="6658708" cy="59317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ACA5CC-D355-A416-CE31-2E373E354A77}"/>
              </a:ext>
            </a:extLst>
          </p:cNvPr>
          <p:cNvSpPr txBox="1"/>
          <p:nvPr/>
        </p:nvSpPr>
        <p:spPr>
          <a:xfrm>
            <a:off x="14841415" y="22230148"/>
            <a:ext cx="5858729" cy="51595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Results discussion in here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E6A6E11-B29E-3453-8500-78CFC7923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841" y="17825653"/>
            <a:ext cx="9646920" cy="267571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5CC7F02-D693-154D-6124-7F25187C6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97" y="8275701"/>
            <a:ext cx="5280271" cy="442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9C402B7-5265-6CB2-6FCB-4D0C7141C8AE}"/>
              </a:ext>
            </a:extLst>
          </p:cNvPr>
          <p:cNvSpPr txBox="1"/>
          <p:nvPr/>
        </p:nvSpPr>
        <p:spPr>
          <a:xfrm>
            <a:off x="1445859" y="12761072"/>
            <a:ext cx="4183545" cy="371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[2] Generic Hyper-Heuristic 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67A7B6-AD0C-708C-5D8A-9B07665E272B}"/>
              </a:ext>
            </a:extLst>
          </p:cNvPr>
          <p:cNvSpPr txBox="1"/>
          <p:nvPr/>
        </p:nvSpPr>
        <p:spPr>
          <a:xfrm>
            <a:off x="674989" y="28780804"/>
            <a:ext cx="20025155" cy="9254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dirty="0"/>
              <a:t>[1] - </a:t>
            </a:r>
            <a:r>
              <a:rPr lang="en-GB" dirty="0" err="1"/>
              <a:t>seage</a:t>
            </a:r>
            <a:r>
              <a:rPr lang="en-GB" dirty="0"/>
              <a:t>. 2025. “GitHub - Seage/Hyflex: Some Hyper-</a:t>
            </a:r>
            <a:r>
              <a:rPr lang="en-GB" dirty="0" err="1"/>
              <a:t>Heurisics</a:t>
            </a:r>
            <a:r>
              <a:rPr lang="en-GB" dirty="0"/>
              <a:t> from </a:t>
            </a:r>
            <a:r>
              <a:rPr lang="en-GB" dirty="0" err="1"/>
              <a:t>CHeSC</a:t>
            </a:r>
            <a:r>
              <a:rPr lang="en-GB" dirty="0"/>
              <a:t> 2011 Challenge and the Challenge Results Reproducing Attempts.” GitHub. 2025. </a:t>
            </a:r>
            <a:r>
              <a:rPr lang="en-GB" dirty="0">
                <a:hlinkClick r:id="rId6"/>
              </a:rPr>
              <a:t>https://github.com/seage/hyflex</a:t>
            </a:r>
            <a:r>
              <a:rPr lang="en-GB" dirty="0"/>
              <a:t>.</a:t>
            </a:r>
          </a:p>
          <a:p>
            <a:r>
              <a:rPr lang="en-GB" dirty="0"/>
              <a:t>[2] - </a:t>
            </a:r>
          </a:p>
          <a:p>
            <a:r>
              <a:rPr lang="en-GB" dirty="0"/>
              <a:t>[3] -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E33F01-AB3D-AFF6-D38E-16F5842BA48B}"/>
              </a:ext>
            </a:extLst>
          </p:cNvPr>
          <p:cNvCxnSpPr>
            <a:stCxn id="26" idx="1"/>
            <a:endCxn id="25" idx="2"/>
          </p:cNvCxnSpPr>
          <p:nvPr/>
        </p:nvCxnSpPr>
        <p:spPr>
          <a:xfrm flipH="1">
            <a:off x="10735557" y="16105137"/>
            <a:ext cx="1" cy="459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EEDB874-4C40-C5BF-F99D-095968D05142}"/>
              </a:ext>
            </a:extLst>
          </p:cNvPr>
          <p:cNvSpPr txBox="1"/>
          <p:nvPr/>
        </p:nvSpPr>
        <p:spPr>
          <a:xfrm>
            <a:off x="1147429" y="14184670"/>
            <a:ext cx="5812897" cy="8910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2000" dirty="0" err="1"/>
              <a:t>Hyperheuristic</a:t>
            </a:r>
            <a:r>
              <a:rPr lang="en-GB" sz="2000" dirty="0"/>
              <a:t> build using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B65CAB-AAF8-1B9E-8502-64ADC0D0B527}"/>
              </a:ext>
            </a:extLst>
          </p:cNvPr>
          <p:cNvSpPr txBox="1"/>
          <p:nvPr/>
        </p:nvSpPr>
        <p:spPr>
          <a:xfrm>
            <a:off x="12564874" y="16042011"/>
            <a:ext cx="6353905" cy="53675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b="1" dirty="0"/>
              <a:t>Pre-Training </a:t>
            </a:r>
            <a:r>
              <a:rPr lang="en-GB" b="1" dirty="0" err="1"/>
              <a:t>Hyperheuristic</a:t>
            </a:r>
            <a:endParaRPr lang="en-GB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1335E3-7F94-AD93-4881-5E04A17BBA67}"/>
              </a:ext>
            </a:extLst>
          </p:cNvPr>
          <p:cNvSpPr txBox="1"/>
          <p:nvPr/>
        </p:nvSpPr>
        <p:spPr>
          <a:xfrm>
            <a:off x="2159027" y="16007467"/>
            <a:ext cx="6353905" cy="53675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b="1" dirty="0"/>
              <a:t>Py4J Java Gateway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94D7A6B-3D11-341F-24C9-EDDFB59D0D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1226" y="8293516"/>
            <a:ext cx="6507535" cy="502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1841</TotalTime>
  <Words>199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Source Sans Pro Black</vt:lpstr>
      <vt:lpstr>Wingdings</vt:lpstr>
      <vt:lpstr>Office Theme</vt:lpstr>
      <vt:lpstr>Pre-Trained Hyper-Heuristics for Optimisation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 Hay</dc:creator>
  <cp:lastModifiedBy>Sans Hay</cp:lastModifiedBy>
  <cp:revision>17</cp:revision>
  <dcterms:created xsi:type="dcterms:W3CDTF">2026-03-09T20:20:42Z</dcterms:created>
  <dcterms:modified xsi:type="dcterms:W3CDTF">2026-03-16T23:59:05Z</dcterms:modified>
</cp:coreProperties>
</file>