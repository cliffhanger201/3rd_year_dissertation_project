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453F"/>
    <a:srgbClr val="044836"/>
    <a:srgbClr val="034941"/>
    <a:srgbClr val="024A48"/>
    <a:srgbClr val="024A37"/>
    <a:srgbClr val="03634A"/>
    <a:srgbClr val="006666"/>
    <a:srgbClr val="003300"/>
    <a:srgbClr val="33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666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32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310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383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908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9965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64812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999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224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326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6097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243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823AB-6602-42D2-BF55-2A857A74F7FB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F5D395-5DB2-486E-BFDC-C050E135A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978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55000">
              <a:schemeClr val="accent3">
                <a:lumMod val="40000"/>
                <a:lumOff val="60000"/>
              </a:schemeClr>
            </a:gs>
            <a:gs pos="97000">
              <a:schemeClr val="accent6">
                <a:lumMod val="75000"/>
              </a:schemeClr>
            </a:gs>
            <a:gs pos="78000">
              <a:schemeClr val="accent6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F9ED1EF-042C-DCF0-3AD8-B70B023CEC08}"/>
              </a:ext>
            </a:extLst>
          </p:cNvPr>
          <p:cNvSpPr/>
          <p:nvPr/>
        </p:nvSpPr>
        <p:spPr>
          <a:xfrm>
            <a:off x="0" y="-18893"/>
            <a:ext cx="21383625" cy="3524093"/>
          </a:xfrm>
          <a:prstGeom prst="rect">
            <a:avLst/>
          </a:prstGeom>
          <a:solidFill>
            <a:srgbClr val="074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BC60426-AC97-0881-FEF5-B8057BF35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0911" y="390060"/>
            <a:ext cx="16489458" cy="2635261"/>
          </a:xfrm>
        </p:spPr>
        <p:txBody>
          <a:bodyPr>
            <a:normAutofit/>
          </a:bodyPr>
          <a:lstStyle/>
          <a:p>
            <a:r>
              <a:rPr lang="en-US" sz="7200" dirty="0">
                <a:solidFill>
                  <a:schemeClr val="bg1"/>
                </a:solidFill>
              </a:rPr>
              <a:t>Pre-Trained Hyper-Heuristics for </a:t>
            </a:r>
            <a:r>
              <a:rPr lang="en-US" sz="7200" dirty="0" err="1">
                <a:solidFill>
                  <a:schemeClr val="bg1"/>
                </a:solidFill>
              </a:rPr>
              <a:t>Optimisation</a:t>
            </a:r>
            <a:r>
              <a:rPr lang="en-US" sz="7200" dirty="0">
                <a:solidFill>
                  <a:schemeClr val="bg1"/>
                </a:solidFill>
              </a:rPr>
              <a:t> Tasks</a:t>
            </a:r>
          </a:p>
        </p:txBody>
      </p:sp>
      <p:pic>
        <p:nvPicPr>
          <p:cNvPr id="1026" name="Picture 2" descr="Uni-Exeter-logo-portrait-1 - VOX - Pol">
            <a:extLst>
              <a:ext uri="{FF2B5EF4-FFF2-40B4-BE49-F238E27FC236}">
                <a16:creationId xmlns:a16="http://schemas.microsoft.com/office/drawing/2014/main" id="{9BFE789B-E8D3-CB48-3198-518301A2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611" y="65831"/>
            <a:ext cx="3465948" cy="3330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B91B601-77FE-C194-D7C2-468E93837BB8}"/>
              </a:ext>
            </a:extLst>
          </p:cNvPr>
          <p:cNvSpPr txBox="1"/>
          <p:nvPr/>
        </p:nvSpPr>
        <p:spPr>
          <a:xfrm>
            <a:off x="570593" y="10666194"/>
            <a:ext cx="19997114" cy="8182785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C19908-A670-F280-5B45-E1703DE415F4}"/>
              </a:ext>
            </a:extLst>
          </p:cNvPr>
          <p:cNvSpPr txBox="1"/>
          <p:nvPr/>
        </p:nvSpPr>
        <p:spPr>
          <a:xfrm>
            <a:off x="6487886" y="188105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03E00E-8E28-7868-2FEA-6F77FB579AF7}"/>
              </a:ext>
            </a:extLst>
          </p:cNvPr>
          <p:cNvSpPr txBox="1"/>
          <p:nvPr/>
        </p:nvSpPr>
        <p:spPr>
          <a:xfrm>
            <a:off x="693255" y="27437525"/>
            <a:ext cx="19751791" cy="2447628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7ADA20-BAB6-6E7F-17BB-882BF96EEBDD}"/>
              </a:ext>
            </a:extLst>
          </p:cNvPr>
          <p:cNvSpPr txBox="1"/>
          <p:nvPr/>
        </p:nvSpPr>
        <p:spPr>
          <a:xfrm>
            <a:off x="693255" y="19051859"/>
            <a:ext cx="19997114" cy="8182785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endParaRPr lang="en-GB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DB9F096-8FB2-0F13-21D3-A0A3D8856AA0}"/>
              </a:ext>
            </a:extLst>
          </p:cNvPr>
          <p:cNvGrpSpPr/>
          <p:nvPr/>
        </p:nvGrpSpPr>
        <p:grpSpPr>
          <a:xfrm>
            <a:off x="570592" y="4006486"/>
            <a:ext cx="9807848" cy="6510696"/>
            <a:chOff x="570592" y="4006486"/>
            <a:chExt cx="9807848" cy="65106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D174AE8-AF0B-34A4-7717-7077F0ACB2D9}"/>
                </a:ext>
              </a:extLst>
            </p:cNvPr>
            <p:cNvSpPr txBox="1"/>
            <p:nvPr/>
          </p:nvSpPr>
          <p:spPr>
            <a:xfrm>
              <a:off x="570592" y="4006486"/>
              <a:ext cx="9807847" cy="65106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1" name="Rectangle: Top Corners Rounded 20">
              <a:extLst>
                <a:ext uri="{FF2B5EF4-FFF2-40B4-BE49-F238E27FC236}">
                  <a16:creationId xmlns:a16="http://schemas.microsoft.com/office/drawing/2014/main" id="{CEA43005-15C9-DD71-26B3-326FF054B01A}"/>
                </a:ext>
              </a:extLst>
            </p:cNvPr>
            <p:cNvSpPr/>
            <p:nvPr/>
          </p:nvSpPr>
          <p:spPr>
            <a:xfrm>
              <a:off x="570594" y="4006486"/>
              <a:ext cx="9807846" cy="1022714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Motivation</a:t>
              </a:r>
              <a:endParaRPr lang="en-GB" sz="3200" dirty="0">
                <a:latin typeface="Source Sans Pro Black" panose="020F0502020204030204" pitchFamily="34" charset="0"/>
              </a:endParaRPr>
            </a:p>
          </p:txBody>
        </p:sp>
      </p:grpSp>
      <p:sp>
        <p:nvSpPr>
          <p:cNvPr id="23" name="Rectangle: Top Corners Rounded 22">
            <a:extLst>
              <a:ext uri="{FF2B5EF4-FFF2-40B4-BE49-F238E27FC236}">
                <a16:creationId xmlns:a16="http://schemas.microsoft.com/office/drawing/2014/main" id="{F1A5F185-2403-2C11-4F6E-69A4A5EC3DF5}"/>
              </a:ext>
            </a:extLst>
          </p:cNvPr>
          <p:cNvSpPr/>
          <p:nvPr/>
        </p:nvSpPr>
        <p:spPr>
          <a:xfrm>
            <a:off x="570591" y="10666194"/>
            <a:ext cx="19997113" cy="1304393"/>
          </a:xfrm>
          <a:prstGeom prst="round2SameRect">
            <a:avLst/>
          </a:prstGeom>
          <a:solidFill>
            <a:srgbClr val="074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000" dirty="0">
                <a:latin typeface="Source Sans Pro Black" panose="020F0502020204030204" pitchFamily="34" charset="0"/>
                <a:ea typeface="Source Sans Pro Black" panose="020F0502020204030204" pitchFamily="34" charset="0"/>
              </a:rPr>
              <a:t>Methodology</a:t>
            </a:r>
            <a:endParaRPr lang="en-GB" sz="4000" dirty="0">
              <a:latin typeface="Source Sans Pro Black" panose="020F0502020204030204" pitchFamily="34" charset="0"/>
            </a:endParaRPr>
          </a:p>
        </p:txBody>
      </p:sp>
      <p:sp>
        <p:nvSpPr>
          <p:cNvPr id="24" name="Rectangle: Top Corners Rounded 23">
            <a:extLst>
              <a:ext uri="{FF2B5EF4-FFF2-40B4-BE49-F238E27FC236}">
                <a16:creationId xmlns:a16="http://schemas.microsoft.com/office/drawing/2014/main" id="{A0C196ED-0F01-28DC-4022-F460723A87BB}"/>
              </a:ext>
            </a:extLst>
          </p:cNvPr>
          <p:cNvSpPr/>
          <p:nvPr/>
        </p:nvSpPr>
        <p:spPr>
          <a:xfrm>
            <a:off x="693256" y="19051859"/>
            <a:ext cx="19997113" cy="1247714"/>
          </a:xfrm>
          <a:prstGeom prst="round2SameRect">
            <a:avLst/>
          </a:prstGeom>
          <a:solidFill>
            <a:srgbClr val="0745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000" dirty="0">
                <a:latin typeface="Source Sans Pro Black" panose="020F0502020204030204" pitchFamily="34" charset="0"/>
                <a:ea typeface="Source Sans Pro Black" panose="020F0502020204030204" pitchFamily="34" charset="0"/>
              </a:rPr>
              <a:t>Methodology</a:t>
            </a:r>
            <a:endParaRPr lang="en-GB" sz="4000" dirty="0">
              <a:latin typeface="Source Sans Pro Black" panose="020F050202020403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5284BD6-DD07-071F-83B7-F71BFC2DC062}"/>
              </a:ext>
            </a:extLst>
          </p:cNvPr>
          <p:cNvGrpSpPr/>
          <p:nvPr/>
        </p:nvGrpSpPr>
        <p:grpSpPr>
          <a:xfrm>
            <a:off x="10503877" y="4006486"/>
            <a:ext cx="10186493" cy="6510696"/>
            <a:chOff x="10503877" y="4006486"/>
            <a:chExt cx="10186493" cy="651069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1B1920-6667-A0E3-FB42-A9F282C7865A}"/>
                </a:ext>
              </a:extLst>
            </p:cNvPr>
            <p:cNvSpPr txBox="1"/>
            <p:nvPr/>
          </p:nvSpPr>
          <p:spPr>
            <a:xfrm>
              <a:off x="10503878" y="4006486"/>
              <a:ext cx="10186492" cy="65106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square" rtlCol="0">
              <a:noAutofit/>
            </a:bodyPr>
            <a:lstStyle/>
            <a:p>
              <a:endParaRPr lang="en-GB" dirty="0"/>
            </a:p>
          </p:txBody>
        </p:sp>
        <p:sp>
          <p:nvSpPr>
            <p:cNvPr id="2" name="Rectangle: Top Corners Rounded 1">
              <a:extLst>
                <a:ext uri="{FF2B5EF4-FFF2-40B4-BE49-F238E27FC236}">
                  <a16:creationId xmlns:a16="http://schemas.microsoft.com/office/drawing/2014/main" id="{30F83BC8-84E3-1453-C408-D0D8C1FB4BE1}"/>
                </a:ext>
              </a:extLst>
            </p:cNvPr>
            <p:cNvSpPr/>
            <p:nvPr/>
          </p:nvSpPr>
          <p:spPr>
            <a:xfrm>
              <a:off x="10503877" y="4006486"/>
              <a:ext cx="10186492" cy="1022714"/>
            </a:xfrm>
            <a:prstGeom prst="round2SameRect">
              <a:avLst/>
            </a:prstGeom>
            <a:solidFill>
              <a:srgbClr val="07453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000" dirty="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Aims </a:t>
              </a:r>
              <a:r>
                <a:rPr lang="en-GB" sz="4000">
                  <a:latin typeface="Source Sans Pro Black" panose="020F0502020204030204" pitchFamily="34" charset="0"/>
                  <a:ea typeface="Source Sans Pro Black" panose="020F0502020204030204" pitchFamily="34" charset="0"/>
                </a:rPr>
                <a:t>and Objectives</a:t>
              </a:r>
              <a:endParaRPr lang="en-GB" sz="3200" dirty="0">
                <a:latin typeface="Source Sans Pro Black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756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929</TotalTime>
  <Words>11</Words>
  <Application>Microsoft Office PowerPoint</Application>
  <PresentationFormat>Custom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Sans Pro Black</vt:lpstr>
      <vt:lpstr>Office Theme</vt:lpstr>
      <vt:lpstr>Pre-Trained Hyper-Heuristics for Optimisation 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Sans Hay</dc:creator>
  <cp:lastModifiedBy>Sans Hay</cp:lastModifiedBy>
  <cp:revision>4</cp:revision>
  <dcterms:created xsi:type="dcterms:W3CDTF">2026-03-09T20:20:42Z</dcterms:created>
  <dcterms:modified xsi:type="dcterms:W3CDTF">2026-03-15T15:03:42Z</dcterms:modified>
</cp:coreProperties>
</file>