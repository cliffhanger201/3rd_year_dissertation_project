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453F"/>
    <a:srgbClr val="044836"/>
    <a:srgbClr val="034941"/>
    <a:srgbClr val="024A48"/>
    <a:srgbClr val="024A37"/>
    <a:srgbClr val="03634A"/>
    <a:srgbClr val="006666"/>
    <a:srgbClr val="003300"/>
    <a:srgbClr val="33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8" d="100"/>
          <a:sy n="18" d="100"/>
        </p:scale>
        <p:origin x="26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0324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1310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3830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908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9965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64812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0999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224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3264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6097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2243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5823AB-6602-42D2-BF55-2A857A74F7FB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6978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F9ED1EF-042C-DCF0-3AD8-B70B023CEC08}"/>
              </a:ext>
            </a:extLst>
          </p:cNvPr>
          <p:cNvSpPr/>
          <p:nvPr/>
        </p:nvSpPr>
        <p:spPr>
          <a:xfrm>
            <a:off x="0" y="-18893"/>
            <a:ext cx="21383625" cy="3524093"/>
          </a:xfrm>
          <a:prstGeom prst="rect">
            <a:avLst/>
          </a:prstGeom>
          <a:solidFill>
            <a:srgbClr val="0745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BC60426-AC97-0881-FEF5-B8057BF35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0911" y="390060"/>
            <a:ext cx="16489458" cy="2635261"/>
          </a:xfrm>
        </p:spPr>
        <p:txBody>
          <a:bodyPr>
            <a:normAutofit/>
          </a:bodyPr>
          <a:lstStyle/>
          <a:p>
            <a:r>
              <a:rPr lang="en-US" sz="7200" dirty="0">
                <a:solidFill>
                  <a:schemeClr val="bg1"/>
                </a:solidFill>
              </a:rPr>
              <a:t>Pre-Trained Hyper-Heuristics for </a:t>
            </a:r>
            <a:r>
              <a:rPr lang="en-US" sz="7200" dirty="0" err="1">
                <a:solidFill>
                  <a:schemeClr val="bg1"/>
                </a:solidFill>
              </a:rPr>
              <a:t>Optimisation</a:t>
            </a:r>
            <a:r>
              <a:rPr lang="en-US" sz="7200" dirty="0">
                <a:solidFill>
                  <a:schemeClr val="bg1"/>
                </a:solidFill>
              </a:rPr>
              <a:t> Tasks</a:t>
            </a:r>
          </a:p>
        </p:txBody>
      </p:sp>
      <p:pic>
        <p:nvPicPr>
          <p:cNvPr id="1026" name="Picture 2" descr="Uni-Exeter-logo-portrait-1 - VOX - Pol">
            <a:extLst>
              <a:ext uri="{FF2B5EF4-FFF2-40B4-BE49-F238E27FC236}">
                <a16:creationId xmlns:a16="http://schemas.microsoft.com/office/drawing/2014/main" id="{9BFE789B-E8D3-CB48-3198-518301A25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611" y="65831"/>
            <a:ext cx="3465948" cy="3330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B91B601-77FE-C194-D7C2-468E93837BB8}"/>
              </a:ext>
            </a:extLst>
          </p:cNvPr>
          <p:cNvSpPr txBox="1"/>
          <p:nvPr/>
        </p:nvSpPr>
        <p:spPr>
          <a:xfrm>
            <a:off x="9761113" y="15288493"/>
            <a:ext cx="10929256" cy="14112984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C19908-A670-F280-5B45-E1703DE415F4}"/>
              </a:ext>
            </a:extLst>
          </p:cNvPr>
          <p:cNvSpPr txBox="1"/>
          <p:nvPr/>
        </p:nvSpPr>
        <p:spPr>
          <a:xfrm>
            <a:off x="6487886" y="1881051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B77FDB-EF91-A437-7706-237C16D1124E}"/>
              </a:ext>
            </a:extLst>
          </p:cNvPr>
          <p:cNvSpPr txBox="1"/>
          <p:nvPr/>
        </p:nvSpPr>
        <p:spPr>
          <a:xfrm>
            <a:off x="693254" y="4112966"/>
            <a:ext cx="8916731" cy="7338657"/>
          </a:xfrm>
          <a:prstGeom prst="roundRect">
            <a:avLst>
              <a:gd name="adj" fmla="val 10719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12AD56-93B4-B70A-46E0-80961D4401CA}"/>
              </a:ext>
            </a:extLst>
          </p:cNvPr>
          <p:cNvSpPr txBox="1"/>
          <p:nvPr/>
        </p:nvSpPr>
        <p:spPr>
          <a:xfrm>
            <a:off x="9867868" y="4097325"/>
            <a:ext cx="10929257" cy="11040281"/>
          </a:xfrm>
          <a:prstGeom prst="roundRect">
            <a:avLst>
              <a:gd name="adj" fmla="val 12744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E2428B-482F-02C0-1B80-8B95E5A93EAB}"/>
              </a:ext>
            </a:extLst>
          </p:cNvPr>
          <p:cNvSpPr txBox="1"/>
          <p:nvPr/>
        </p:nvSpPr>
        <p:spPr>
          <a:xfrm>
            <a:off x="693256" y="11542368"/>
            <a:ext cx="8923593" cy="668126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B6C21E-2D19-0C4A-F3E3-12528D579BEF}"/>
              </a:ext>
            </a:extLst>
          </p:cNvPr>
          <p:cNvSpPr txBox="1"/>
          <p:nvPr/>
        </p:nvSpPr>
        <p:spPr>
          <a:xfrm>
            <a:off x="686392" y="18505418"/>
            <a:ext cx="8923593" cy="668126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endParaRPr lang="en-GB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03E00E-8E28-7868-2FEA-6F77FB579AF7}"/>
              </a:ext>
            </a:extLst>
          </p:cNvPr>
          <p:cNvSpPr txBox="1"/>
          <p:nvPr/>
        </p:nvSpPr>
        <p:spPr>
          <a:xfrm>
            <a:off x="693255" y="25491774"/>
            <a:ext cx="8923593" cy="4217381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559D06-B838-7BC5-2B56-78DB461F2884}"/>
              </a:ext>
            </a:extLst>
          </p:cNvPr>
          <p:cNvSpPr txBox="1"/>
          <p:nvPr/>
        </p:nvSpPr>
        <p:spPr>
          <a:xfrm>
            <a:off x="693254" y="4114587"/>
            <a:ext cx="8943913" cy="1429830"/>
          </a:xfrm>
          <a:custGeom>
            <a:avLst/>
            <a:gdLst>
              <a:gd name="csX0" fmla="*/ 238310 w 8923593"/>
              <a:gd name="csY0" fmla="*/ 0 h 1429830"/>
              <a:gd name="csX1" fmla="*/ 8685283 w 8923593"/>
              <a:gd name="csY1" fmla="*/ 0 h 1429830"/>
              <a:gd name="csX2" fmla="*/ 8923593 w 8923593"/>
              <a:gd name="csY2" fmla="*/ 238310 h 1429830"/>
              <a:gd name="csX3" fmla="*/ 8923593 w 8923593"/>
              <a:gd name="csY3" fmla="*/ 1429830 h 1429830"/>
              <a:gd name="csX4" fmla="*/ 8923593 w 8923593"/>
              <a:gd name="csY4" fmla="*/ 1429830 h 1429830"/>
              <a:gd name="csX5" fmla="*/ 0 w 8923593"/>
              <a:gd name="csY5" fmla="*/ 1429830 h 1429830"/>
              <a:gd name="csX6" fmla="*/ 0 w 8923593"/>
              <a:gd name="csY6" fmla="*/ 1429830 h 1429830"/>
              <a:gd name="csX7" fmla="*/ 0 w 8923593"/>
              <a:gd name="csY7" fmla="*/ 238310 h 1429830"/>
              <a:gd name="csX8" fmla="*/ 238310 w 8923593"/>
              <a:gd name="csY8" fmla="*/ 0 h 1429830"/>
              <a:gd name="csX0" fmla="*/ 238310 w 8943913"/>
              <a:gd name="csY0" fmla="*/ 0 h 1429830"/>
              <a:gd name="csX1" fmla="*/ 8685283 w 8943913"/>
              <a:gd name="csY1" fmla="*/ 0 h 1429830"/>
              <a:gd name="csX2" fmla="*/ 8923593 w 8943913"/>
              <a:gd name="csY2" fmla="*/ 238310 h 1429830"/>
              <a:gd name="csX3" fmla="*/ 8923593 w 8943913"/>
              <a:gd name="csY3" fmla="*/ 1429830 h 1429830"/>
              <a:gd name="csX4" fmla="*/ 8943913 w 8943913"/>
              <a:gd name="csY4" fmla="*/ 1429830 h 1429830"/>
              <a:gd name="csX5" fmla="*/ 0 w 8943913"/>
              <a:gd name="csY5" fmla="*/ 1429830 h 1429830"/>
              <a:gd name="csX6" fmla="*/ 0 w 8943913"/>
              <a:gd name="csY6" fmla="*/ 1429830 h 1429830"/>
              <a:gd name="csX7" fmla="*/ 0 w 8943913"/>
              <a:gd name="csY7" fmla="*/ 238310 h 1429830"/>
              <a:gd name="csX8" fmla="*/ 238310 w 8943913"/>
              <a:gd name="csY8" fmla="*/ 0 h 14298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8943913" h="1429830">
                <a:moveTo>
                  <a:pt x="238310" y="0"/>
                </a:moveTo>
                <a:lnTo>
                  <a:pt x="8685283" y="0"/>
                </a:lnTo>
                <a:cubicBezTo>
                  <a:pt x="8816898" y="0"/>
                  <a:pt x="8923593" y="106695"/>
                  <a:pt x="8923593" y="238310"/>
                </a:cubicBezTo>
                <a:lnTo>
                  <a:pt x="8923593" y="1429830"/>
                </a:lnTo>
                <a:lnTo>
                  <a:pt x="8943913" y="1429830"/>
                </a:lnTo>
                <a:lnTo>
                  <a:pt x="0" y="1429830"/>
                </a:lnTo>
                <a:lnTo>
                  <a:pt x="0" y="1429830"/>
                </a:lnTo>
                <a:lnTo>
                  <a:pt x="0" y="238310"/>
                </a:lnTo>
                <a:cubicBezTo>
                  <a:pt x="0" y="106695"/>
                  <a:pt x="106695" y="0"/>
                  <a:pt x="238310" y="0"/>
                </a:cubicBezTo>
                <a:close/>
              </a:path>
            </a:pathLst>
          </a:custGeom>
          <a:solidFill>
            <a:srgbClr val="07453F"/>
          </a:solidFill>
        </p:spPr>
        <p:txBody>
          <a:bodyPr wrap="square" rtlCol="0" anchor="ctr">
            <a:noAutofit/>
          </a:bodyPr>
          <a:lstStyle/>
          <a:p>
            <a:r>
              <a:rPr lang="en-GB" dirty="0"/>
              <a:t>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62306-D463-5AC0-AFBA-BC37660BADC2}"/>
              </a:ext>
            </a:extLst>
          </p:cNvPr>
          <p:cNvSpPr txBox="1"/>
          <p:nvPr/>
        </p:nvSpPr>
        <p:spPr>
          <a:xfrm>
            <a:off x="9888186" y="4112966"/>
            <a:ext cx="10929256" cy="1429830"/>
          </a:xfrm>
          <a:prstGeom prst="round2SameRect">
            <a:avLst/>
          </a:prstGeom>
          <a:solidFill>
            <a:srgbClr val="07453F"/>
          </a:solidFill>
        </p:spPr>
        <p:txBody>
          <a:bodyPr wrap="square" rtlCol="0">
            <a:noAutofit/>
          </a:bodyPr>
          <a:lstStyle/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0560AE-B81D-1BA8-B5F6-D4BA4DBE14F9}"/>
              </a:ext>
            </a:extLst>
          </p:cNvPr>
          <p:cNvSpPr txBox="1"/>
          <p:nvPr/>
        </p:nvSpPr>
        <p:spPr>
          <a:xfrm>
            <a:off x="693255" y="11542368"/>
            <a:ext cx="8923593" cy="1429830"/>
          </a:xfrm>
          <a:prstGeom prst="round2SameRect">
            <a:avLst/>
          </a:prstGeom>
          <a:solidFill>
            <a:srgbClr val="07453F"/>
          </a:solidFill>
        </p:spPr>
        <p:txBody>
          <a:bodyPr wrap="square" rtlCol="0">
            <a:noAutofit/>
          </a:bodyPr>
          <a:lstStyle/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A431F-0BB9-CB40-6FC5-50CAB5511247}"/>
              </a:ext>
            </a:extLst>
          </p:cNvPr>
          <p:cNvSpPr txBox="1"/>
          <p:nvPr/>
        </p:nvSpPr>
        <p:spPr>
          <a:xfrm>
            <a:off x="693255" y="18505418"/>
            <a:ext cx="8923593" cy="1429830"/>
          </a:xfrm>
          <a:prstGeom prst="round2SameRect">
            <a:avLst/>
          </a:prstGeom>
          <a:solidFill>
            <a:srgbClr val="07453F"/>
          </a:solidFill>
        </p:spPr>
        <p:txBody>
          <a:bodyPr wrap="square" rtlCol="0">
            <a:noAutofit/>
          </a:bodyPr>
          <a:lstStyle/>
          <a:p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5E3572-4980-2DDE-F75A-3844DE2A7D63}"/>
              </a:ext>
            </a:extLst>
          </p:cNvPr>
          <p:cNvSpPr txBox="1"/>
          <p:nvPr/>
        </p:nvSpPr>
        <p:spPr>
          <a:xfrm>
            <a:off x="9761113" y="15288493"/>
            <a:ext cx="10929256" cy="1463040"/>
          </a:xfrm>
          <a:prstGeom prst="round2SameRect">
            <a:avLst/>
          </a:prstGeom>
          <a:solidFill>
            <a:srgbClr val="07453F"/>
          </a:solidFill>
        </p:spPr>
        <p:txBody>
          <a:bodyPr wrap="square" rtlCol="0">
            <a:noAutofit/>
          </a:bodyPr>
          <a:lstStyle/>
          <a:p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BA09B1-F42C-37A7-3C78-22D6179B9690}"/>
              </a:ext>
            </a:extLst>
          </p:cNvPr>
          <p:cNvSpPr txBox="1"/>
          <p:nvPr/>
        </p:nvSpPr>
        <p:spPr>
          <a:xfrm>
            <a:off x="693255" y="25491774"/>
            <a:ext cx="8923593" cy="1025826"/>
          </a:xfrm>
          <a:prstGeom prst="round2SameRect">
            <a:avLst/>
          </a:prstGeom>
          <a:solidFill>
            <a:srgbClr val="07453F"/>
          </a:solidFill>
        </p:spPr>
        <p:txBody>
          <a:bodyPr wrap="square" rtlCol="0" anchor="ctr">
            <a:no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78756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609</TotalTime>
  <Words>7</Words>
  <Application>Microsoft Office PowerPoint</Application>
  <PresentationFormat>Custom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Pre-Trained Hyper-Heuristics for Optimisation 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Sans Hay</dc:creator>
  <cp:lastModifiedBy>Sans Hay</cp:lastModifiedBy>
  <cp:revision>2</cp:revision>
  <dcterms:created xsi:type="dcterms:W3CDTF">2026-03-09T20:20:42Z</dcterms:created>
  <dcterms:modified xsi:type="dcterms:W3CDTF">2026-03-11T14:18:57Z</dcterms:modified>
</cp:coreProperties>
</file>