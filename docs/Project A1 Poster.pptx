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453F"/>
    <a:srgbClr val="044836"/>
    <a:srgbClr val="034941"/>
    <a:srgbClr val="024A48"/>
    <a:srgbClr val="024A37"/>
    <a:srgbClr val="03634A"/>
    <a:srgbClr val="006666"/>
    <a:srgbClr val="003300"/>
    <a:srgbClr val="33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66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10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83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90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9965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48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999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26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0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243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978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55000">
              <a:schemeClr val="accent3">
                <a:lumMod val="40000"/>
                <a:lumOff val="60000"/>
              </a:schemeClr>
            </a:gs>
            <a:gs pos="97000">
              <a:schemeClr val="accent6">
                <a:lumMod val="75000"/>
              </a:schemeClr>
            </a:gs>
            <a:gs pos="78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9ED1EF-042C-DCF0-3AD8-B70B023CEC08}"/>
              </a:ext>
            </a:extLst>
          </p:cNvPr>
          <p:cNvSpPr/>
          <p:nvPr/>
        </p:nvSpPr>
        <p:spPr>
          <a:xfrm>
            <a:off x="0" y="-18892"/>
            <a:ext cx="21383625" cy="2812501"/>
          </a:xfrm>
          <a:prstGeom prst="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C60426-AC97-0881-FEF5-B8057BF35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656" y="107826"/>
            <a:ext cx="16489458" cy="2635261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Pre-Trained Hyper-Heuristics for </a:t>
            </a:r>
            <a:r>
              <a:rPr lang="en-US" sz="7200" dirty="0" err="1">
                <a:solidFill>
                  <a:schemeClr val="bg1"/>
                </a:solidFill>
              </a:rPr>
              <a:t>Optimisation</a:t>
            </a:r>
            <a:r>
              <a:rPr lang="en-US" sz="7200" dirty="0">
                <a:solidFill>
                  <a:schemeClr val="bg1"/>
                </a:solidFill>
              </a:rPr>
              <a:t> Tasks</a:t>
            </a:r>
          </a:p>
        </p:txBody>
      </p:sp>
      <p:pic>
        <p:nvPicPr>
          <p:cNvPr id="1026" name="Picture 2" descr="Uni-Exeter-logo-portrait-1 - VOX - Pol">
            <a:extLst>
              <a:ext uri="{FF2B5EF4-FFF2-40B4-BE49-F238E27FC236}">
                <a16:creationId xmlns:a16="http://schemas.microsoft.com/office/drawing/2014/main" id="{9BFE789B-E8D3-CB48-3198-518301A2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255" y="107826"/>
            <a:ext cx="2665712" cy="2561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0C19908-A670-F280-5B45-E1703DE415F4}"/>
              </a:ext>
            </a:extLst>
          </p:cNvPr>
          <p:cNvSpPr txBox="1"/>
          <p:nvPr/>
        </p:nvSpPr>
        <p:spPr>
          <a:xfrm>
            <a:off x="6487886" y="188105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BB69EF9-B2A1-59F7-B709-5662B89D809C}"/>
              </a:ext>
            </a:extLst>
          </p:cNvPr>
          <p:cNvGrpSpPr/>
          <p:nvPr/>
        </p:nvGrpSpPr>
        <p:grpSpPr>
          <a:xfrm>
            <a:off x="422116" y="8143714"/>
            <a:ext cx="20534520" cy="7357422"/>
            <a:chOff x="570591" y="10666194"/>
            <a:chExt cx="19997116" cy="81827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B91B601-77FE-C194-D7C2-468E93837BB8}"/>
                </a:ext>
              </a:extLst>
            </p:cNvPr>
            <p:cNvSpPr txBox="1"/>
            <p:nvPr/>
          </p:nvSpPr>
          <p:spPr>
            <a:xfrm>
              <a:off x="570593" y="10666194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F1A5F185-2403-2C11-4F6E-69A4A5EC3DF5}"/>
                </a:ext>
              </a:extLst>
            </p:cNvPr>
            <p:cNvSpPr/>
            <p:nvPr/>
          </p:nvSpPr>
          <p:spPr>
            <a:xfrm>
              <a:off x="570591" y="10666194"/>
              <a:ext cx="19997113" cy="1304393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Methodology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99588F7-062E-CB4C-655D-44300457033D}"/>
              </a:ext>
            </a:extLst>
          </p:cNvPr>
          <p:cNvGrpSpPr/>
          <p:nvPr/>
        </p:nvGrpSpPr>
        <p:grpSpPr>
          <a:xfrm>
            <a:off x="422115" y="20656061"/>
            <a:ext cx="20626880" cy="7094398"/>
            <a:chOff x="693255" y="19051859"/>
            <a:chExt cx="19997114" cy="818278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7ADA20-BAB6-6E7F-17BB-882BF96EEBDD}"/>
                </a:ext>
              </a:extLst>
            </p:cNvPr>
            <p:cNvSpPr txBox="1"/>
            <p:nvPr/>
          </p:nvSpPr>
          <p:spPr>
            <a:xfrm>
              <a:off x="693255" y="19051859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4" name="Rectangle: Top Corners Rounded 23">
              <a:extLst>
                <a:ext uri="{FF2B5EF4-FFF2-40B4-BE49-F238E27FC236}">
                  <a16:creationId xmlns:a16="http://schemas.microsoft.com/office/drawing/2014/main" id="{A0C196ED-0F01-28DC-4022-F460723A87BB}"/>
                </a:ext>
              </a:extLst>
            </p:cNvPr>
            <p:cNvSpPr/>
            <p:nvPr/>
          </p:nvSpPr>
          <p:spPr>
            <a:xfrm>
              <a:off x="693256" y="19051859"/>
              <a:ext cx="19997113" cy="1247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Results and Conclusion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A2ED68F-F9FC-E4EF-62DA-257CC9AA76EF}"/>
              </a:ext>
            </a:extLst>
          </p:cNvPr>
          <p:cNvGrpSpPr/>
          <p:nvPr/>
        </p:nvGrpSpPr>
        <p:grpSpPr>
          <a:xfrm>
            <a:off x="10506232" y="3040569"/>
            <a:ext cx="10450401" cy="4897062"/>
            <a:chOff x="10503877" y="4006486"/>
            <a:chExt cx="10186493" cy="65106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5284BD6-DD07-071F-83B7-F71BFC2DC062}"/>
                </a:ext>
              </a:extLst>
            </p:cNvPr>
            <p:cNvGrpSpPr/>
            <p:nvPr/>
          </p:nvGrpSpPr>
          <p:grpSpPr>
            <a:xfrm>
              <a:off x="10503877" y="4006486"/>
              <a:ext cx="10186493" cy="6510696"/>
              <a:chOff x="10503877" y="4006486"/>
              <a:chExt cx="10186493" cy="6510696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B1920-6667-A0E3-FB42-A9F282C7865A}"/>
                  </a:ext>
                </a:extLst>
              </p:cNvPr>
              <p:cNvSpPr txBox="1"/>
              <p:nvPr/>
            </p:nvSpPr>
            <p:spPr>
              <a:xfrm>
                <a:off x="10503878" y="4006486"/>
                <a:ext cx="10186492" cy="651069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rtlCol="0">
                <a:noAutofit/>
              </a:bodyPr>
              <a:lstStyle/>
              <a:p>
                <a:endParaRPr lang="en-GB" dirty="0"/>
              </a:p>
            </p:txBody>
          </p:sp>
          <p:sp>
            <p:nvSpPr>
              <p:cNvPr id="2" name="Rectangle: Top Corners Rounded 1">
                <a:extLst>
                  <a:ext uri="{FF2B5EF4-FFF2-40B4-BE49-F238E27FC236}">
                    <a16:creationId xmlns:a16="http://schemas.microsoft.com/office/drawing/2014/main" id="{30F83BC8-84E3-1453-C408-D0D8C1FB4BE1}"/>
                  </a:ext>
                </a:extLst>
              </p:cNvPr>
              <p:cNvSpPr/>
              <p:nvPr/>
            </p:nvSpPr>
            <p:spPr>
              <a:xfrm>
                <a:off x="10503877" y="4006486"/>
                <a:ext cx="10186492" cy="1022714"/>
              </a:xfrm>
              <a:prstGeom prst="round2SameRect">
                <a:avLst/>
              </a:prstGeom>
              <a:solidFill>
                <a:srgbClr val="07453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4000" dirty="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Aims </a:t>
                </a:r>
                <a:r>
                  <a:rPr lang="en-GB" sz="400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and Objectives</a:t>
                </a:r>
                <a:endParaRPr lang="en-GB" sz="3200" dirty="0">
                  <a:latin typeface="Source Sans Pro Black" panose="020F0502020204030204" pitchFamily="34" charset="0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E12A528-2AA1-F28F-AFE0-B615E1F67B6F}"/>
                </a:ext>
              </a:extLst>
            </p:cNvPr>
            <p:cNvSpPr txBox="1"/>
            <p:nvPr/>
          </p:nvSpPr>
          <p:spPr>
            <a:xfrm>
              <a:off x="10691812" y="5196840"/>
              <a:ext cx="9748546" cy="49894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800" dirty="0"/>
                <a:t>Create and implement a </a:t>
              </a:r>
              <a:r>
                <a:rPr lang="en-GB" sz="2800" dirty="0" err="1"/>
                <a:t>hyperheuristic</a:t>
              </a:r>
              <a:r>
                <a:rPr lang="en-GB" sz="2800" dirty="0"/>
                <a:t> that operates on the problem domains in Hyflex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800" dirty="0"/>
                <a:t>Attach a Python-Java Gateway that runs Hyflex </a:t>
              </a:r>
              <a:r>
                <a:rPr lang="en-GB" sz="2800" dirty="0" err="1"/>
                <a:t>hyperheuristics</a:t>
              </a:r>
              <a:r>
                <a:rPr lang="en-GB" sz="2800" dirty="0"/>
                <a:t> on the problem domains to visually compare results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800" dirty="0"/>
                <a:t>Attempt to see if pre-training a </a:t>
              </a:r>
              <a:r>
                <a:rPr lang="en-GB" sz="2800" dirty="0" err="1"/>
                <a:t>hyperheuristic</a:t>
              </a:r>
              <a:r>
                <a:rPr lang="en-GB" sz="2800" dirty="0"/>
                <a:t> is achievable</a:t>
              </a:r>
            </a:p>
            <a:p>
              <a:pPr marL="457200" indent="-457200">
                <a:buFont typeface="Wingdings" panose="05000000000000000000" pitchFamily="2" charset="2"/>
                <a:buChar char="§"/>
              </a:pPr>
              <a:endParaRPr lang="en-GB" sz="28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911E45-2258-2910-9FF3-6B0789D15C7D}"/>
              </a:ext>
            </a:extLst>
          </p:cNvPr>
          <p:cNvGrpSpPr/>
          <p:nvPr/>
        </p:nvGrpSpPr>
        <p:grpSpPr>
          <a:xfrm>
            <a:off x="422115" y="3040569"/>
            <a:ext cx="9827523" cy="4897062"/>
            <a:chOff x="570592" y="4006486"/>
            <a:chExt cx="9807848" cy="651069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DB9F096-8FB2-0F13-21D3-A0A3D8856AA0}"/>
                </a:ext>
              </a:extLst>
            </p:cNvPr>
            <p:cNvGrpSpPr/>
            <p:nvPr/>
          </p:nvGrpSpPr>
          <p:grpSpPr>
            <a:xfrm>
              <a:off x="570592" y="4006486"/>
              <a:ext cx="9807848" cy="6510696"/>
              <a:chOff x="570592" y="4006486"/>
              <a:chExt cx="9807848" cy="6510696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174AE8-AF0B-34A4-7717-7077F0ACB2D9}"/>
                  </a:ext>
                </a:extLst>
              </p:cNvPr>
              <p:cNvSpPr txBox="1"/>
              <p:nvPr/>
            </p:nvSpPr>
            <p:spPr>
              <a:xfrm>
                <a:off x="570592" y="4006486"/>
                <a:ext cx="9807847" cy="651069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rtlCol="0">
                <a:noAutofit/>
              </a:bodyPr>
              <a:lstStyle/>
              <a:p>
                <a:endParaRPr lang="en-GB" dirty="0"/>
              </a:p>
            </p:txBody>
          </p:sp>
          <p:sp>
            <p:nvSpPr>
              <p:cNvPr id="21" name="Rectangle: Top Corners Rounded 20">
                <a:extLst>
                  <a:ext uri="{FF2B5EF4-FFF2-40B4-BE49-F238E27FC236}">
                    <a16:creationId xmlns:a16="http://schemas.microsoft.com/office/drawing/2014/main" id="{CEA43005-15C9-DD71-26B3-326FF054B01A}"/>
                  </a:ext>
                </a:extLst>
              </p:cNvPr>
              <p:cNvSpPr/>
              <p:nvPr/>
            </p:nvSpPr>
            <p:spPr>
              <a:xfrm>
                <a:off x="570594" y="4006486"/>
                <a:ext cx="9807846" cy="1022714"/>
              </a:xfrm>
              <a:prstGeom prst="round2SameRect">
                <a:avLst/>
              </a:prstGeom>
              <a:solidFill>
                <a:srgbClr val="07453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4000" dirty="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Motivation</a:t>
                </a:r>
                <a:endParaRPr lang="en-GB" sz="3200" dirty="0">
                  <a:latin typeface="Source Sans Pro Black" panose="020F050202020403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D3E116-DEFF-2225-53ED-4B47AB7C8B61}"/>
                </a:ext>
              </a:extLst>
            </p:cNvPr>
            <p:cNvSpPr txBox="1"/>
            <p:nvPr/>
          </p:nvSpPr>
          <p:spPr>
            <a:xfrm>
              <a:off x="822960" y="5196840"/>
              <a:ext cx="9281160" cy="49894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800" b="1" dirty="0"/>
                <a:t>Transfer Learning Between Problem Instances: </a:t>
              </a:r>
              <a:r>
                <a:rPr lang="en-GB" sz="2800" dirty="0"/>
                <a:t>Allows hyper-heuristic exploit previously learning heuristic performance patterns</a:t>
              </a:r>
              <a:endParaRPr lang="en-GB" sz="2800" b="1" dirty="0"/>
            </a:p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800" b="1" dirty="0"/>
                <a:t>Improving Early-Stage Solution Quality: </a:t>
              </a:r>
              <a:r>
                <a:rPr lang="en-GB" sz="2800" dirty="0"/>
                <a:t>Helps hyper-heuristics prioritise heuristics that work well with similar </a:t>
              </a:r>
            </a:p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800" b="1" dirty="0"/>
                <a:t>Stabilise Heuristic Selection Behaviour: </a:t>
              </a:r>
              <a:r>
                <a:rPr lang="en-GB" sz="2800" dirty="0"/>
                <a:t>Heuristic Selection is highly stochastic. Learns consistent patterns across multiple training runs</a:t>
              </a:r>
              <a:endParaRPr lang="en-GB" sz="2800" b="1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8492880-B1A1-A91A-73A5-77FAE74825AE}"/>
              </a:ext>
            </a:extLst>
          </p:cNvPr>
          <p:cNvGrpSpPr/>
          <p:nvPr/>
        </p:nvGrpSpPr>
        <p:grpSpPr>
          <a:xfrm>
            <a:off x="422114" y="28018154"/>
            <a:ext cx="20534518" cy="1866999"/>
            <a:chOff x="693255" y="27437524"/>
            <a:chExt cx="19997113" cy="244762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03E00E-8E28-7868-2FEA-6F77FB579AF7}"/>
                </a:ext>
              </a:extLst>
            </p:cNvPr>
            <p:cNvSpPr txBox="1"/>
            <p:nvPr/>
          </p:nvSpPr>
          <p:spPr>
            <a:xfrm>
              <a:off x="693255" y="27437525"/>
              <a:ext cx="19997113" cy="244762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7" name="Rectangle: Top Corners Rounded 6">
              <a:extLst>
                <a:ext uri="{FF2B5EF4-FFF2-40B4-BE49-F238E27FC236}">
                  <a16:creationId xmlns:a16="http://schemas.microsoft.com/office/drawing/2014/main" id="{4616C8A7-7E1F-F1BD-585B-616CD003EC8E}"/>
                </a:ext>
              </a:extLst>
            </p:cNvPr>
            <p:cNvSpPr/>
            <p:nvPr/>
          </p:nvSpPr>
          <p:spPr>
            <a:xfrm>
              <a:off x="693255" y="27437524"/>
              <a:ext cx="19997113" cy="799183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References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E5F356-D971-5F9D-6770-42051A4A760A}"/>
              </a:ext>
            </a:extLst>
          </p:cNvPr>
          <p:cNvGrpSpPr/>
          <p:nvPr/>
        </p:nvGrpSpPr>
        <p:grpSpPr>
          <a:xfrm>
            <a:off x="422116" y="15698365"/>
            <a:ext cx="20626882" cy="4690000"/>
            <a:chOff x="693255" y="19051859"/>
            <a:chExt cx="19997114" cy="818278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B7C1514-7254-36FB-A962-8706DBB74D74}"/>
                </a:ext>
              </a:extLst>
            </p:cNvPr>
            <p:cNvSpPr txBox="1"/>
            <p:nvPr/>
          </p:nvSpPr>
          <p:spPr>
            <a:xfrm>
              <a:off x="693255" y="19051859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3273D125-2609-3E9C-6D92-64B2BE24480C}"/>
                </a:ext>
              </a:extLst>
            </p:cNvPr>
            <p:cNvSpPr/>
            <p:nvPr/>
          </p:nvSpPr>
          <p:spPr>
            <a:xfrm>
              <a:off x="693256" y="19051859"/>
              <a:ext cx="19997113" cy="1247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Implementation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75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1230</TotalTime>
  <Words>99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Source Sans Pro Black</vt:lpstr>
      <vt:lpstr>Wingdings</vt:lpstr>
      <vt:lpstr>Office Theme</vt:lpstr>
      <vt:lpstr>Pre-Trained Hyper-Heuristics for Optimisation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Sans Hay</dc:creator>
  <cp:lastModifiedBy>Sans Hay</cp:lastModifiedBy>
  <cp:revision>8</cp:revision>
  <dcterms:created xsi:type="dcterms:W3CDTF">2026-03-09T20:20:42Z</dcterms:created>
  <dcterms:modified xsi:type="dcterms:W3CDTF">2026-03-15T22:45:05Z</dcterms:modified>
</cp:coreProperties>
</file>